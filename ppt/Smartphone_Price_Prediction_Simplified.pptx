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de5b9dc-f462-5a07-d645-48c9ef8c0cb8}">
          <p14:sldIdLst>
            <p14:sldId id="256"/>
            <p14:sldId id="257"/>
          </p14:sldIdLst>
        </p14:section>
        <p14:section name="Problem statement" id="{09babff3-cdf2-4cf8-4915-f3ea08f185c4}">
          <p14:sldIdLst>
            <p14:sldId id="258"/>
          </p14:sldIdLst>
        </p14:section>
        <p14:section name="Dataset" id="{7151a6d7-5358-b8a9-53b3-830025802410}">
          <p14:sldIdLst>
            <p14:sldId id="259"/>
          </p14:sldIdLst>
        </p14:section>
        <p14:section name="Data understanding and preprocessing" id="{ffd8e699-d709-88b5-5753-8f2498b89886}">
          <p14:sldIdLst>
            <p14:sldId id="260"/>
            <p14:sldId id="261"/>
          </p14:sldIdLst>
        </p14:section>
        <p14:section name="Predictive modelling approach" id="{977fa3bd-539f-41d8-9cca-882e66ea4b5d}">
          <p14:sldIdLst>
            <p14:sldId id="262"/>
          </p14:sldIdLst>
        </p14:section>
        <p14:section name="Model development" id="{3e2b6627-a690-39d5-0fd3-1f1cfd48d6c9}">
          <p14:sldIdLst>
            <p14:sldId id="263"/>
          </p14:sldIdLst>
        </p14:section>
        <p14:section name="Evaluation of the model" id="{23758131-fb34-dd0b-86be-a56452f0c2aa}">
          <p14:sldIdLst>
            <p14:sldId id="264"/>
          </p14:sldIdLst>
        </p14:section>
        <p14:section name="Results and interpretation" id="{7de48558-d216-9e0e-9c3b-3d3068b17359}">
          <p14:sldIdLst>
            <p14:sldId id="265"/>
            <p14:sldId id="266"/>
            <p14:sldId id="267"/>
          </p14:sldIdLst>
        </p14:section>
        <p14:section name="Conclusion" id="{cccec528-4229-0f29-b5f2-99a8355c8366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A9D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Study 1 (USD)</c:v>
                  </c:pt>
                  <c:pt idx="1">
                    <c:v>Study 2 (INR)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83.6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Study 1 (USD)</c:v>
                  </c:pt>
                  <c:pt idx="1">
                    <c:v>Study 2 (INR)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83.6</c:v>
                </c:pt>
                <c:pt idx="1">
                  <c:v>80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Test MAE (₹),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(₹)</c:v>
                </c:pt>
              </c:strCache>
            </c:strRef>
          </c:tx>
          <c:spPr>
            <a:solidFill>
              <a:srgbClr val="2A9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RF base</c:v>
                  </c:pt>
                  <c:pt idx="1">
                    <c:v>GB base</c:v>
                  </c:pt>
                  <c:pt idx="2">
                    <c:v>RF tuned</c:v>
                  </c:pt>
                  <c:pt idx="3">
                    <c:v>GB tuned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5790</c:v>
                </c:pt>
                <c:pt idx="1">
                  <c:v>4430</c:v>
                </c:pt>
                <c:pt idx="2">
                  <c:v>5537</c:v>
                </c:pt>
                <c:pt idx="3">
                  <c:v>3887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F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69494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11480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82880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Predicting Smartphone Prices from Hardware Specifications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114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Predictive Analytics project · Random Forest vs Gradient Boosting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Barkha Sahu · Symbiosis Institute of Technology, Nagpur</a:t>
            </a:r>
            <a:endParaRPr lang="en-US" sz="1400" dirty="0"/>
          </a:p>
        </p:txBody>
      </p:sp>
      <p:sp>
        <p:nvSpPr>
          <p:cNvPr id="5" name="Budget circle"/>
          <p:cNvSpPr/>
          <p:nvPr/>
        </p:nvSpPr>
        <p:spPr>
          <a:xfrm>
            <a:off x="7955280" y="26517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0" y="4389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Budget</a:t>
            </a:r>
            <a:endParaRPr lang="en-US" sz="1400" dirty="0"/>
          </a:p>
        </p:txBody>
      </p:sp>
      <p:sp>
        <p:nvSpPr>
          <p:cNvPr id="7" name="Mid-Range circle"/>
          <p:cNvSpPr/>
          <p:nvPr/>
        </p:nvSpPr>
        <p:spPr>
          <a:xfrm>
            <a:off x="9235440" y="2651760"/>
            <a:ext cx="1554480" cy="1554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Mid-Range</a:t>
            </a:r>
            <a:endParaRPr lang="en-US" sz="1400" dirty="0"/>
          </a:p>
        </p:txBody>
      </p:sp>
      <p:sp>
        <p:nvSpPr>
          <p:cNvPr id="9" name="Premium circle"/>
          <p:cNvSpPr/>
          <p:nvPr/>
        </p:nvSpPr>
        <p:spPr>
          <a:xfrm>
            <a:off x="10972800" y="265176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88136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Premium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011680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this presentation covers</a:t>
            </a:r>
            <a:endParaRPr lang="en-US" sz="3400" dirty="0"/>
          </a:p>
        </p:txBody>
      </p:sp>
      <p:sp>
        <p:nvSpPr>
          <p:cNvPr id="4" name="Agenda card"/>
          <p:cNvSpPr/>
          <p:nvPr/>
        </p:nvSpPr>
        <p:spPr>
          <a:xfrm>
            <a:off x="548640" y="192024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202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7" name="Agenda card"/>
          <p:cNvSpPr/>
          <p:nvPr/>
        </p:nvSpPr>
        <p:spPr>
          <a:xfrm>
            <a:off x="6199632" y="192024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Number 2"/>
          <p:cNvSpPr/>
          <p:nvPr/>
        </p:nvSpPr>
        <p:spPr>
          <a:xfrm>
            <a:off x="6428232" y="21031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19202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Dataset</a:t>
            </a:r>
            <a:endParaRPr lang="en-US" sz="1800" dirty="0"/>
          </a:p>
        </p:txBody>
      </p:sp>
      <p:sp>
        <p:nvSpPr>
          <p:cNvPr id="10" name="Agenda card"/>
          <p:cNvSpPr/>
          <p:nvPr/>
        </p:nvSpPr>
        <p:spPr>
          <a:xfrm>
            <a:off x="548640" y="297180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1" name="Number 3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71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understanding and preprocessing</a:t>
            </a:r>
            <a:endParaRPr lang="en-US" sz="1800" dirty="0"/>
          </a:p>
        </p:txBody>
      </p:sp>
      <p:sp>
        <p:nvSpPr>
          <p:cNvPr id="13" name="Agenda card"/>
          <p:cNvSpPr/>
          <p:nvPr/>
        </p:nvSpPr>
        <p:spPr>
          <a:xfrm>
            <a:off x="6199632" y="297180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Number 4"/>
          <p:cNvSpPr/>
          <p:nvPr/>
        </p:nvSpPr>
        <p:spPr>
          <a:xfrm>
            <a:off x="6428232" y="31546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971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Predictive modelling approach</a:t>
            </a:r>
            <a:endParaRPr lang="en-US" sz="1800" dirty="0"/>
          </a:p>
        </p:txBody>
      </p:sp>
      <p:sp>
        <p:nvSpPr>
          <p:cNvPr id="16" name="Agenda card"/>
          <p:cNvSpPr/>
          <p:nvPr/>
        </p:nvSpPr>
        <p:spPr>
          <a:xfrm>
            <a:off x="548640" y="402336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7" name="Number 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0233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 development</a:t>
            </a:r>
            <a:endParaRPr lang="en-US" sz="1800" dirty="0"/>
          </a:p>
        </p:txBody>
      </p:sp>
      <p:sp>
        <p:nvSpPr>
          <p:cNvPr id="19" name="Agenda card"/>
          <p:cNvSpPr/>
          <p:nvPr/>
        </p:nvSpPr>
        <p:spPr>
          <a:xfrm>
            <a:off x="6199632" y="402336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0" name="Number 6"/>
          <p:cNvSpPr/>
          <p:nvPr/>
        </p:nvSpPr>
        <p:spPr>
          <a:xfrm>
            <a:off x="6428232" y="42062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40233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Evaluation of the model</a:t>
            </a:r>
            <a:endParaRPr lang="en-US" sz="1800" dirty="0"/>
          </a:p>
        </p:txBody>
      </p:sp>
      <p:sp>
        <p:nvSpPr>
          <p:cNvPr id="22" name="Agenda card"/>
          <p:cNvSpPr/>
          <p:nvPr/>
        </p:nvSpPr>
        <p:spPr>
          <a:xfrm>
            <a:off x="548640" y="507492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3" name="Number 7"/>
          <p:cNvSpPr/>
          <p:nvPr/>
        </p:nvSpPr>
        <p:spPr>
          <a:xfrm>
            <a:off x="777240" y="52578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0749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Results and interpretation</a:t>
            </a:r>
            <a:endParaRPr lang="en-US" sz="1800" dirty="0"/>
          </a:p>
        </p:txBody>
      </p:sp>
      <p:sp>
        <p:nvSpPr>
          <p:cNvPr id="25" name="Agenda card"/>
          <p:cNvSpPr/>
          <p:nvPr/>
        </p:nvSpPr>
        <p:spPr>
          <a:xfrm>
            <a:off x="6199632" y="507492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6" name="Number 8"/>
          <p:cNvSpPr/>
          <p:nvPr/>
        </p:nvSpPr>
        <p:spPr>
          <a:xfrm>
            <a:off x="6428232" y="52578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50749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665476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· PROBLEM STATEMENT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Can hardware specs predict a phone’s price?</a:t>
            </a:r>
            <a:endParaRPr lang="en-US" sz="3400" dirty="0"/>
          </a:p>
        </p:txBody>
      </p:sp>
      <p:sp>
        <p:nvSpPr>
          <p:cNvPr id="4" name="Icon circle"/>
          <p:cNvSpPr/>
          <p:nvPr/>
        </p:nvSpPr>
        <p:spPr>
          <a:xfrm>
            <a:off x="548640" y="20574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RupeeSig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9202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Phone prices vary hugely: from ₹5,700 to ₹260,000.</a:t>
            </a:r>
            <a:endParaRPr lang="en-US" sz="1800" dirty="0"/>
          </a:p>
        </p:txBody>
      </p:sp>
      <p:sp>
        <p:nvSpPr>
          <p:cNvPr id="7" name="Icon circle"/>
          <p:cNvSpPr/>
          <p:nvPr/>
        </p:nvSpPr>
        <p:spPr>
          <a:xfrm>
            <a:off x="548640" y="34290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11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32918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Buyers and makers want to know how much of the price comes from hardware alone.</a:t>
            </a:r>
            <a:endParaRPr lang="en-US" sz="1800" dirty="0"/>
          </a:p>
        </p:txBody>
      </p:sp>
      <p:sp>
        <p:nvSpPr>
          <p:cNvPr id="10" name="Icon circle"/>
          <p:cNvSpPr/>
          <p:nvPr/>
        </p:nvSpPr>
        <p:spPr>
          <a:xfrm>
            <a:off x="548640" y="4800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2" descr="Bullsey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834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54480" y="4663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Goal: predict a phone’s price tier and its actual price from its specifications.</a:t>
            </a:r>
            <a:endParaRPr lang="en-US" sz="1800" dirty="0"/>
          </a:p>
        </p:txBody>
      </p:sp>
      <p:sp>
        <p:nvSpPr>
          <p:cNvPr id="13" name="Task card"/>
          <p:cNvSpPr/>
          <p:nvPr/>
        </p:nvSpPr>
        <p:spPr>
          <a:xfrm>
            <a:off x="6583680" y="1920240"/>
            <a:ext cx="5056632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Task dot"/>
          <p:cNvSpPr/>
          <p:nvPr/>
        </p:nvSpPr>
        <p:spPr>
          <a:xfrm>
            <a:off x="6858000" y="219456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7315200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Which price tier?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Budget, Mid-Range or Premium</a:t>
            </a:r>
            <a:endParaRPr lang="en-US" sz="1600" dirty="0"/>
          </a:p>
        </p:txBody>
      </p:sp>
      <p:sp>
        <p:nvSpPr>
          <p:cNvPr id="18" name="Task card"/>
          <p:cNvSpPr/>
          <p:nvPr/>
        </p:nvSpPr>
        <p:spPr>
          <a:xfrm>
            <a:off x="6583680" y="4069080"/>
            <a:ext cx="5056632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ask dot"/>
          <p:cNvSpPr/>
          <p:nvPr/>
        </p:nvSpPr>
        <p:spPr>
          <a:xfrm>
            <a:off x="6858000" y="4343400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31520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4800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is the price?</a:t>
            </a:r>
            <a:endParaRPr lang="en-US" sz="2800" dirty="0"/>
          </a:p>
        </p:txBody>
      </p:sp>
      <p:sp>
        <p:nvSpPr>
          <p:cNvPr id="22" name="Text 17"/>
          <p:cNvSpPr txBox="1"/>
          <p:nvPr/>
        </p:nvSpPr>
        <p:spPr>
          <a:xfrm>
            <a:off x="6858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predicted amount in rupees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011680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· DATASET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Three datasets, 2,822 phones</a:t>
            </a:r>
            <a:endParaRPr lang="en-US" sz="3400" dirty="0"/>
          </a:p>
        </p:txBody>
      </p:sp>
      <p:sp>
        <p:nvSpPr>
          <p:cNvPr id="4" name="Dataset card"/>
          <p:cNvSpPr/>
          <p:nvPr/>
        </p:nvSpPr>
        <p:spPr>
          <a:xfrm>
            <a:off x="548640" y="182880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STUDY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Mobiles Dataset 2025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915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unique phones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Prices in USD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Target: 3 price tiers</a:t>
            </a:r>
            <a:endParaRPr lang="en-US" sz="1600" dirty="0"/>
          </a:p>
        </p:txBody>
      </p:sp>
      <p:sp>
        <p:nvSpPr>
          <p:cNvPr id="10" name="Dataset card"/>
          <p:cNvSpPr/>
          <p:nvPr/>
        </p:nvSpPr>
        <p:spPr>
          <a:xfrm>
            <a:off x="4311396" y="182880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5716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STUDY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85716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Final Mobile Dataset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85716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1,049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4585716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clean phones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85716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Prices in INR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Target: 3 price tiers</a:t>
            </a:r>
            <a:endParaRPr lang="en-US" sz="1600" dirty="0"/>
          </a:p>
        </p:txBody>
      </p:sp>
      <p:sp>
        <p:nvSpPr>
          <p:cNvPr id="16" name="Dataset card"/>
          <p:cNvSpPr/>
          <p:nvPr/>
        </p:nvSpPr>
        <p:spPr>
          <a:xfrm>
            <a:off x="8074152" y="182880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STUDY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Smartphones v4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858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phones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Prices in INR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Target: the price itself</a:t>
            </a:r>
            <a:endParaRPr lang="en-US" sz="1600" dirty="0"/>
          </a:p>
        </p:txBody>
      </p:sp>
      <p:sp>
        <p:nvSpPr>
          <p:cNvPr id="22" name="Banner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3" name="Banner text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Features: RAM, storage, battery, display, cameras, processor and brand. Price is never used as a feature.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770632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· DATA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data tells us</a:t>
            </a:r>
            <a:endParaRPr lang="en-US" sz="3400" dirty="0"/>
          </a:p>
        </p:txBody>
      </p:sp>
      <p:pic>
        <p:nvPicPr>
          <p:cNvPr id="4" name="Image 0" descr="Bar charts of how strongly each specification relates to pr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766560" cy="2715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617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Longer bar = stronger link with price (Study 2)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Bigger batteries mean cheaper phones. Refresh rate and OS version barely matter.</a:t>
            </a:r>
            <a:endParaRPr lang="en-US" sz="1600" dirty="0"/>
          </a:p>
        </p:txBody>
      </p:sp>
      <p:sp>
        <p:nvSpPr>
          <p:cNvPr id="7" name="Stat card"/>
          <p:cNvSpPr/>
          <p:nvPr/>
        </p:nvSpPr>
        <p:spPr>
          <a:xfrm>
            <a:off x="7680960" y="1828800"/>
            <a:ext cx="39593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55280" y="1938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0.63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633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Storage vs price correlation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7680960" y="3337560"/>
            <a:ext cx="39593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55280" y="34472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0.60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142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RAM vs price correlation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7680960" y="4846320"/>
            <a:ext cx="395935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55280" y="49560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100%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650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Apple phones are Premium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244852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· PREPROCESSING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Cleaning the data before modelling</a:t>
            </a:r>
            <a:endParaRPr lang="en-US" sz="3400" dirty="0"/>
          </a:p>
        </p:txBody>
      </p:sp>
      <p:sp>
        <p:nvSpPr>
          <p:cNvPr id="4" name="Step card"/>
          <p:cNvSpPr/>
          <p:nvPr/>
        </p:nvSpPr>
        <p:spPr>
          <a:xfrm>
            <a:off x="548640" y="182880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Remove duplicates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7 duplicate phones removed in Study 2 and 15 in Study 1.</a:t>
            </a:r>
            <a:endParaRPr lang="en-US" sz="1600" dirty="0"/>
          </a:p>
        </p:txBody>
      </p:sp>
      <p:sp>
        <p:nvSpPr>
          <p:cNvPr id="8" name="Step card"/>
          <p:cNvSpPr/>
          <p:nvPr/>
        </p:nvSpPr>
        <p:spPr>
          <a:xfrm>
            <a:off x="3376879" y="182880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3651199" y="20574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51199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Fix labels and codes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1199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30 brand labels merged to 27. 267 wrong RAM codes recoded to 12 GB.</a:t>
            </a:r>
            <a:endParaRPr lang="en-US" sz="1600" dirty="0"/>
          </a:p>
        </p:txBody>
      </p:sp>
      <p:sp>
        <p:nvSpPr>
          <p:cNvPr id="12" name="Step card"/>
          <p:cNvSpPr/>
          <p:nvPr/>
        </p:nvSpPr>
        <p:spPr>
          <a:xfrm>
            <a:off x="6205118" y="182880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/>
          <p:nvPr/>
        </p:nvSpPr>
        <p:spPr>
          <a:xfrm>
            <a:off x="6479438" y="20574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79438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Fill missing values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79438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9 missing camera values filled using training data only.</a:t>
            </a:r>
            <a:endParaRPr lang="en-US" sz="1600" dirty="0"/>
          </a:p>
        </p:txBody>
      </p:sp>
      <p:sp>
        <p:nvSpPr>
          <p:cNvPr id="16" name="Step card"/>
          <p:cNvSpPr/>
          <p:nvPr/>
        </p:nvSpPr>
        <p:spPr>
          <a:xfrm>
            <a:off x="9033358" y="182880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Number 4"/>
          <p:cNvSpPr/>
          <p:nvPr/>
        </p:nvSpPr>
        <p:spPr>
          <a:xfrm>
            <a:off x="9307678" y="20574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07678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Create new features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07678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Camera total, battery per inch and storage per RAM.</a:t>
            </a:r>
            <a:endParaRPr lang="en-US" sz="1600" dirty="0"/>
          </a:p>
        </p:txBody>
      </p:sp>
      <p:sp>
        <p:nvSpPr>
          <p:cNvPr id="20" name="Banner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1" name="Banner text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Targets: three equal-sized price tiers (Studies 1 and 2) and log(price) for regression (Study 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3927348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· PREDICTIVE MODELLING APPROACH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step-by-step KDD workflow</a:t>
            </a:r>
            <a:endParaRPr lang="en-US" sz="3400" dirty="0"/>
          </a:p>
        </p:txBody>
      </p:sp>
      <p:sp>
        <p:nvSpPr>
          <p:cNvPr id="4" name="Workflow step 1"/>
          <p:cNvSpPr/>
          <p:nvPr/>
        </p:nvSpPr>
        <p:spPr>
          <a:xfrm>
            <a:off x="548640" y="1828800"/>
            <a:ext cx="1920240" cy="109728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50800" rIns="177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Select data</a:t>
            </a:r>
            <a:endParaRPr lang="en-US" sz="1400" dirty="0"/>
          </a:p>
        </p:txBody>
      </p:sp>
      <p:sp>
        <p:nvSpPr>
          <p:cNvPr id="5" name="Workflow step 2"/>
          <p:cNvSpPr/>
          <p:nvPr/>
        </p:nvSpPr>
        <p:spPr>
          <a:xfrm>
            <a:off x="2404872" y="1828800"/>
            <a:ext cx="1920240" cy="109728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50800" rIns="177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Clean</a:t>
            </a:r>
            <a:endParaRPr lang="en-US" sz="1400" dirty="0"/>
          </a:p>
        </p:txBody>
      </p:sp>
      <p:sp>
        <p:nvSpPr>
          <p:cNvPr id="6" name="Workflow step 3"/>
          <p:cNvSpPr/>
          <p:nvPr/>
        </p:nvSpPr>
        <p:spPr>
          <a:xfrm>
            <a:off x="4261104" y="1828800"/>
            <a:ext cx="1920240" cy="109728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50800" rIns="177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Engineer features</a:t>
            </a:r>
            <a:endParaRPr lang="en-US" sz="1400" dirty="0"/>
          </a:p>
        </p:txBody>
      </p:sp>
      <p:sp>
        <p:nvSpPr>
          <p:cNvPr id="7" name="Workflow step 4"/>
          <p:cNvSpPr/>
          <p:nvPr/>
        </p:nvSpPr>
        <p:spPr>
          <a:xfrm>
            <a:off x="6117336" y="1828800"/>
            <a:ext cx="1920240" cy="109728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50800" rIns="177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Explore</a:t>
            </a:r>
            <a:endParaRPr lang="en-US" sz="1400" dirty="0"/>
          </a:p>
        </p:txBody>
      </p:sp>
      <p:sp>
        <p:nvSpPr>
          <p:cNvPr id="8" name="Workflow step 5"/>
          <p:cNvSpPr/>
          <p:nvPr/>
        </p:nvSpPr>
        <p:spPr>
          <a:xfrm>
            <a:off x="7973568" y="1828800"/>
            <a:ext cx="1920240" cy="1097280"/>
          </a:xfrm>
          <a:prstGeom prst="homePlate">
            <a:avLst/>
          </a:prstGeom>
          <a:solidFill>
            <a:schemeClr val="tx2"/>
          </a:solidFill>
          <a:ln/>
        </p:spPr>
        <p:txBody>
          <a:bodyPr wrap="square" lIns="0" tIns="50800" rIns="177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 and tune</a:t>
            </a:r>
            <a:endParaRPr lang="en-US" sz="1400" dirty="0"/>
          </a:p>
        </p:txBody>
      </p:sp>
      <p:sp>
        <p:nvSpPr>
          <p:cNvPr id="9" name="Workflow step 6"/>
          <p:cNvSpPr/>
          <p:nvPr/>
        </p:nvSpPr>
        <p:spPr>
          <a:xfrm>
            <a:off x="9829800" y="1828800"/>
            <a:ext cx="1920240" cy="1097280"/>
          </a:xfrm>
          <a:prstGeom prst="homePlate">
            <a:avLst/>
          </a:prstGeom>
          <a:solidFill>
            <a:schemeClr val="accent2"/>
          </a:solidFill>
          <a:ln/>
        </p:spPr>
        <p:txBody>
          <a:bodyPr wrap="square" lIns="0" tIns="50800" rIns="1778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</a:t>
            </a:r>
            <a:endParaRPr lang="en-US" sz="1400" dirty="0"/>
          </a:p>
        </p:txBody>
      </p:sp>
      <p:sp>
        <p:nvSpPr>
          <p:cNvPr id="10" name="Safeguards card"/>
          <p:cNvSpPr/>
          <p:nvPr/>
        </p:nvSpPr>
        <p:spPr>
          <a:xfrm>
            <a:off x="548640" y="3291840"/>
            <a:ext cx="67665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Safeguards against cheating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3192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Price columns never enter the features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80/20 train–test split with a fixed seed (42)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Missing values filled using training data only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Settings tuned with 5-fold cross-validation</a:t>
            </a:r>
            <a:endParaRPr lang="en-US" sz="1800" dirty="0"/>
          </a:p>
        </p:txBody>
      </p:sp>
      <p:sp>
        <p:nvSpPr>
          <p:cNvPr id="13" name="Tasks card"/>
          <p:cNvSpPr/>
          <p:nvPr/>
        </p:nvSpPr>
        <p:spPr>
          <a:xfrm>
            <a:off x="7680960" y="3291840"/>
            <a:ext cx="39593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0" y="3429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Two prediction tasks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9319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Classification: Budget, Mid-Range or Premium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Regression: the price in ₹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665476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· MODEL DEVELOPMENT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Random Forest vs Gradient Boosting</a:t>
            </a:r>
            <a:endParaRPr lang="en-US" sz="3400" dirty="0"/>
          </a:p>
        </p:txBody>
      </p:sp>
      <p:sp>
        <p:nvSpPr>
          <p:cNvPr id="4" name="Model card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Tre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031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Random Forest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Many deep trees vote in parallel. Averaging their answers cuts errors.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97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Best settings: 200 trees, depth 10</a:t>
            </a:r>
            <a:endParaRPr lang="en-US" sz="1600" dirty="0"/>
          </a:p>
        </p:txBody>
      </p:sp>
      <p:sp>
        <p:nvSpPr>
          <p:cNvPr id="10" name="Model card"/>
          <p:cNvSpPr/>
          <p:nvPr/>
        </p:nvSpPr>
        <p:spPr>
          <a:xfrm>
            <a:off x="6199632" y="1828800"/>
            <a:ext cx="54406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6519672" y="21031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1" descr="Chart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79792" y="21031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Gradient Boosting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31089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Small trees are built one after another. Each one fixes the previous mistakes.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4297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Best settings: 200 trees, learning rate 0.1, depth 2</a:t>
            </a:r>
            <a:endParaRPr lang="en-US" sz="1600" dirty="0"/>
          </a:p>
        </p:txBody>
      </p:sp>
      <p:sp>
        <p:nvSpPr>
          <p:cNvPr id="16" name="Banner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7" name="Banner text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Both models were tuned with 5-fold cross-validation on the 80% training 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3296412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 · EVALUATION OF THE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we judge the models</a:t>
            </a:r>
            <a:endParaRPr lang="en-US" sz="3400" dirty="0"/>
          </a:p>
        </p:txBody>
      </p:sp>
      <p:sp>
        <p:nvSpPr>
          <p:cNvPr id="4" name="Metrics card"/>
          <p:cNvSpPr/>
          <p:nvPr/>
        </p:nvSpPr>
        <p:spPr>
          <a:xfrm>
            <a:off x="548640" y="1828800"/>
            <a:ext cx="54406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Classification (price tier)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Accuracy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share of phones placed in the right tier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Macro-F1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474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accuracy balanced across all tiers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343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ROC-AUC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43434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well the tiers are separated</a:t>
            </a:r>
            <a:endParaRPr lang="en-US" sz="1600" dirty="0"/>
          </a:p>
        </p:txBody>
      </p:sp>
      <p:sp>
        <p:nvSpPr>
          <p:cNvPr id="12" name="Metrics card"/>
          <p:cNvSpPr/>
          <p:nvPr/>
        </p:nvSpPr>
        <p:spPr>
          <a:xfrm>
            <a:off x="6199632" y="1828800"/>
            <a:ext cx="54406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19659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Regression (price in ₹)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606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MAE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982712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error in rupees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MAPE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982712" y="3474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error as a percentage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4343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R²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982712" y="43434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share of price variation explained</a:t>
            </a:r>
            <a:endParaRPr lang="en-US" sz="1600" dirty="0"/>
          </a:p>
        </p:txBody>
      </p:sp>
      <p:sp>
        <p:nvSpPr>
          <p:cNvPr id="20" name="Banner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1" name="Banner text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Tested on a held-out 20% of phones (172 to 210) the models never saw. Chance level for 3 tiers is 33%.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3611880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 · RESULTS AND INTERPRETATION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Tier prediction is 80–84% accurate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760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Confusion matrices for Random Forest and Gradient Boosting on Study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114800" cy="3474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675120" y="53218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Study 2 confusion matrices: darker diagonal = correct</a:t>
            </a:r>
            <a:endParaRPr lang="en-US" sz="1100" dirty="0"/>
          </a:p>
        </p:txBody>
      </p:sp>
      <p:sp>
        <p:nvSpPr>
          <p:cNvPr id="7" name="Banner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8" name="Banner text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About 98% of mistakes are only one tier away. Mid-Range is the hardest tier.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3611880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 · RESULTS AND INTERPRETATION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Price prediction: Gradient Boosting wins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7223760" y="182880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98080" y="1920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₹3,887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578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error (MAE) of tuned Gradient Boosting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7223760" y="324612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0" y="3337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0.941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R²: share of price variation explained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7223760" y="466344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4754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10.8%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5413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percentage error (MAPE)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608076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Random Forest tuned: MAE ₹5,537, R² 0.879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3611880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 · RESULTS AND INTERPRETATION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drives a phone’s price</a:t>
            </a:r>
            <a:endParaRPr lang="en-US" sz="3400" dirty="0"/>
          </a:p>
        </p:txBody>
      </p:sp>
      <p:pic>
        <p:nvPicPr>
          <p:cNvPr id="4" name="Image 0" descr="Top 15 most important features for Random Forest and Gradient Boos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949440" cy="28254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09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Longer bar = feature matters more (Study 3)</a:t>
            </a:r>
            <a:endParaRPr lang="en-US" sz="1200" dirty="0"/>
          </a:p>
        </p:txBody>
      </p:sp>
      <p:sp>
        <p:nvSpPr>
          <p:cNvPr id="6" name="Takeaways card"/>
          <p:cNvSpPr/>
          <p:nvPr/>
        </p:nvSpPr>
        <p:spPr>
          <a:xfrm>
            <a:off x="7863840" y="1828800"/>
            <a:ext cx="3776472" cy="4297680"/>
          </a:xfrm>
          <a:prstGeom prst="roundRect">
            <a:avLst>
              <a:gd name="adj" fmla="val 290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3816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5146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RAM and storage are the strongest price signals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Screen quality and processor speed come next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New feature battery per inch added useful signal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Brand and marketing are not in the specs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12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Both models agree on the main drivers, so the result is consistent.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011680" cy="310896"/>
          </a:xfrm>
          <a:prstGeom prst="roundRect">
            <a:avLst>
              <a:gd name="adj" fmla="val 470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8 ·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Conclusion: specs predict price well</a:t>
            </a:r>
            <a:endParaRPr lang="en-US" sz="3400" dirty="0"/>
          </a:p>
        </p:txBody>
      </p:sp>
      <p:sp>
        <p:nvSpPr>
          <p:cNvPr id="4" name="Takeaway card"/>
          <p:cNvSpPr/>
          <p:nvPr/>
        </p:nvSpPr>
        <p:spPr>
          <a:xfrm>
            <a:off x="548640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accent5"/>
          </a:solidFill>
          <a:ln/>
        </p:spPr>
      </p:sp>
      <p:sp>
        <p:nvSpPr>
          <p:cNvPr id="5" name="Number 1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Specs predict the tier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81 to 84% accuracy vs 33% by chance</a:t>
            </a:r>
            <a:endParaRPr lang="en-US" sz="1600" dirty="0"/>
          </a:p>
        </p:txBody>
      </p:sp>
      <p:sp>
        <p:nvSpPr>
          <p:cNvPr id="8" name="Takeaway card"/>
          <p:cNvSpPr/>
          <p:nvPr/>
        </p:nvSpPr>
        <p:spPr>
          <a:xfrm>
            <a:off x="3376879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accent5"/>
          </a:solidFill>
          <a:ln/>
        </p:spPr>
      </p:sp>
      <p:sp>
        <p:nvSpPr>
          <p:cNvPr id="9" name="Number 2"/>
          <p:cNvSpPr/>
          <p:nvPr/>
        </p:nvSpPr>
        <p:spPr>
          <a:xfrm>
            <a:off x="3651199" y="2057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51199" y="2788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Both models are equal on tiers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1199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Only about 1 point apart (McNemar p = 0.82)</a:t>
            </a:r>
            <a:endParaRPr lang="en-US" sz="1600" dirty="0"/>
          </a:p>
        </p:txBody>
      </p:sp>
      <p:sp>
        <p:nvSpPr>
          <p:cNvPr id="12" name="Takeaway card"/>
          <p:cNvSpPr/>
          <p:nvPr/>
        </p:nvSpPr>
        <p:spPr>
          <a:xfrm>
            <a:off x="6205118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accent5"/>
          </a:solidFill>
          <a:ln/>
        </p:spPr>
      </p:sp>
      <p:sp>
        <p:nvSpPr>
          <p:cNvPr id="13" name="Number 3"/>
          <p:cNvSpPr/>
          <p:nvPr/>
        </p:nvSpPr>
        <p:spPr>
          <a:xfrm>
            <a:off x="6479438" y="2057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79438" y="2788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Gradient Boosting wins on price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79438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MAE ₹3,887 and R² 0.941, vs ₹5,537 and 0.879</a:t>
            </a:r>
            <a:endParaRPr lang="en-US" sz="1600" dirty="0"/>
          </a:p>
        </p:txBody>
      </p:sp>
      <p:sp>
        <p:nvSpPr>
          <p:cNvPr id="16" name="Takeaway card"/>
          <p:cNvSpPr/>
          <p:nvPr/>
        </p:nvSpPr>
        <p:spPr>
          <a:xfrm>
            <a:off x="9033358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accent5"/>
          </a:solidFill>
          <a:ln/>
        </p:spPr>
      </p:sp>
      <p:sp>
        <p:nvSpPr>
          <p:cNvPr id="17" name="Number 4"/>
          <p:cNvSpPr/>
          <p:nvPr/>
        </p:nvSpPr>
        <p:spPr>
          <a:xfrm>
            <a:off x="9307678" y="2057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07678" y="2788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Errors are near-misses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07678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Almost all are one tier away, near the cut-offs</a:t>
            </a:r>
            <a:endParaRPr lang="en-US" sz="1600" dirty="0"/>
          </a:p>
        </p:txBody>
      </p:sp>
      <p:sp>
        <p:nvSpPr>
          <p:cNvPr id="20" name="Recommendation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Best choice: Random Forest for tier labels, tuned Gradient Boosting for price estimates.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548640" y="411480"/>
            <a:ext cx="2011680" cy="310896"/>
          </a:xfrm>
          <a:prstGeom prst="roundRect">
            <a:avLst>
              <a:gd name="adj" fmla="val 4705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 · CONCLUSION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4" name="List card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Launch prices only, not adjusted for inflation or currency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Small samples: 858 to 1,049 phones per dataset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Brand, marketing and launch timing are not in the specs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Models need testing on new data before real use</a:t>
            </a:r>
            <a:endParaRPr lang="en-US" sz="1800" dirty="0"/>
          </a:p>
        </p:txBody>
      </p:sp>
      <p:sp>
        <p:nvSpPr>
          <p:cNvPr id="7" name="List card"/>
          <p:cNvSpPr/>
          <p:nvPr/>
        </p:nvSpPr>
        <p:spPr>
          <a:xfrm>
            <a:off x="6199632" y="182880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65176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launch date, brand tier and reviews as features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Try XGBoost, LightGBM and ordinal models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Flag low-confidence predictions for manual review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Deploy the saved models in a small price-check app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phone Pricing">
  <a:themeElements>
    <a:clrScheme name="Smartphone Pricing">
      <a:dk1>
        <a:srgbClr val="1B1F2A"/>
      </a:dk1>
      <a:lt1>
        <a:srgbClr val="FFFFFF"/>
      </a:lt1>
      <a:dk2>
        <a:srgbClr val="14213D"/>
      </a:dk2>
      <a:lt2>
        <a:srgbClr val="EEF2F7"/>
      </a:lt2>
      <a:accent1>
        <a:srgbClr val="2A9DD8"/>
      </a:accent1>
      <a:accent2>
        <a:srgbClr val="F5A524"/>
      </a:accent2>
      <a:accent3>
        <a:srgbClr val="D64533"/>
      </a:accent3>
      <a:accent4>
        <a:srgbClr val="2E7D6B"/>
      </a:accent4>
      <a:accent5>
        <a:srgbClr val="4F5F82"/>
      </a:accent5>
      <a:accent6>
        <a:srgbClr val="8FA3BF"/>
      </a:accent6>
      <a:hlink>
        <a:srgbClr val="2A9DD8"/>
      </a:hlink>
      <a:folHlink>
        <a:srgbClr val="4F5F82"/>
      </a:folHlink>
    </a:clrScheme>
    <a:fontScheme name="Smartphone Pric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Smartphone Prices from Hardware Specifications</dc:title>
  <dc:subject>PptxGenJS Presentation</dc:subject>
  <dc:creator>Barkha Sahu</dc:creator>
  <cp:lastModifiedBy>Barkha Sahu</cp:lastModifiedBy>
  <cp:revision>1</cp:revision>
  <dcterms:created xsi:type="dcterms:W3CDTF">2026-10-24T22:48:10Z</dcterms:created>
  <dcterms:modified xsi:type="dcterms:W3CDTF">2026-10-24T22:48:10Z</dcterms:modified>
</cp:coreProperties>
</file>